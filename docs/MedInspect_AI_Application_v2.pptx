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ae353bc4f643a6" /><Relationship Type="http://schemas.openxmlformats.org/officeDocument/2006/relationships/extended-properties" Target="/docProps/app.xml" Id="R48311ef1ed9d49bd" /><Relationship Type="http://schemas.openxmlformats.org/officeDocument/2006/relationships/officeDocument" Target="/ppt/presentation.xml" Id="R6a45003399ad4c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399fb62fe542ca"/>
  </p:sldMasterIdLst>
  <p:notesMasterIdLst>
    <p:notesMasterId xmlns:r="http://schemas.openxmlformats.org/officeDocument/2006/relationships" r:id="R94b573ef937b421b"/>
  </p:notesMasterIdLst>
  <p:sldIdLst>
    <p:sldId xmlns:r="http://schemas.openxmlformats.org/officeDocument/2006/relationships" id="256" r:id="Rfce4f7781b0a4886"/>
    <p:sldId xmlns:r="http://schemas.openxmlformats.org/officeDocument/2006/relationships" id="257" r:id="R59cc99cc27834fa7"/>
    <p:sldId xmlns:r="http://schemas.openxmlformats.org/officeDocument/2006/relationships" id="258" r:id="R70f9b92b06294763"/>
    <p:sldId xmlns:r="http://schemas.openxmlformats.org/officeDocument/2006/relationships" id="259" r:id="Rf2e6e07d35ae43e1"/>
    <p:sldId xmlns:r="http://schemas.openxmlformats.org/officeDocument/2006/relationships" id="260" r:id="R4d5a9d0ba0e14a4d"/>
    <p:sldId xmlns:r="http://schemas.openxmlformats.org/officeDocument/2006/relationships" id="261" r:id="Rded30911c8344a75"/>
    <p:sldId xmlns:r="http://schemas.openxmlformats.org/officeDocument/2006/relationships" id="262" r:id="R2f4547499d4344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2e059bd9fa4403" /><Relationship Type="http://schemas.openxmlformats.org/officeDocument/2006/relationships/slideMaster" Target="/ppt/slideMasters/slideMaster1.xml" Id="R59399fb62fe542ca" /><Relationship Type="http://schemas.openxmlformats.org/officeDocument/2006/relationships/notesMaster" Target="/ppt/notesMasters/notesMaster1.xml" Id="R94b573ef937b421b" /><Relationship Type="http://schemas.openxmlformats.org/officeDocument/2006/relationships/presProps" Target="/ppt/presProps.xml" Id="Rd071915c8c874baf" /><Relationship Type="http://schemas.openxmlformats.org/officeDocument/2006/relationships/tableStyles" Target="/ppt/tableStyles.xml" Id="Rbccb5073ca3246d9" /><Relationship Type="http://schemas.openxmlformats.org/officeDocument/2006/relationships/slide" Target="/ppt/slides/slide1.xml" Id="Rfce4f7781b0a4886" /><Relationship Type="http://schemas.openxmlformats.org/officeDocument/2006/relationships/slide" Target="/ppt/slides/slide2.xml" Id="R59cc99cc27834fa7" /><Relationship Type="http://schemas.openxmlformats.org/officeDocument/2006/relationships/slide" Target="/ppt/slides/slide3.xml" Id="R70f9b92b06294763" /><Relationship Type="http://schemas.openxmlformats.org/officeDocument/2006/relationships/slide" Target="/ppt/slides/slide4.xml" Id="Rf2e6e07d35ae43e1" /><Relationship Type="http://schemas.openxmlformats.org/officeDocument/2006/relationships/slide" Target="/ppt/slides/slide5.xml" Id="R4d5a9d0ba0e14a4d" /><Relationship Type="http://schemas.openxmlformats.org/officeDocument/2006/relationships/slide" Target="/ppt/slides/slide6.xml" Id="Rded30911c8344a75" /><Relationship Type="http://schemas.openxmlformats.org/officeDocument/2006/relationships/slide" Target="/ppt/slides/slide7.xml" Id="R2f4547499d4344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397a963b4643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f27ddd7d9846ba" /><Relationship Type="http://schemas.openxmlformats.org/officeDocument/2006/relationships/notesMaster" Target="/ppt/notesMasters/notesMaster1.xml" Id="R6cb5fd0d7af44a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383254b8f94985" /><Relationship Type="http://schemas.openxmlformats.org/officeDocument/2006/relationships/notesMaster" Target="/ppt/notesMasters/notesMaster1.xml" Id="Ra1a0c8f338fa45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7f52b0ecf24703" /><Relationship Type="http://schemas.openxmlformats.org/officeDocument/2006/relationships/notesMaster" Target="/ppt/notesMasters/notesMaster1.xml" Id="R9375ef17d6cd4b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c53a500e22493d" /><Relationship Type="http://schemas.openxmlformats.org/officeDocument/2006/relationships/notesMaster" Target="/ppt/notesMasters/notesMaster1.xml" Id="Ree5de4f4857745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20450a9d2842b7" /><Relationship Type="http://schemas.openxmlformats.org/officeDocument/2006/relationships/notesMaster" Target="/ppt/notesMasters/notesMaster1.xml" Id="Rd1f07356763d40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95e27945684360" /><Relationship Type="http://schemas.openxmlformats.org/officeDocument/2006/relationships/notesMaster" Target="/ppt/notesMasters/notesMaster1.xml" Id="R474fb5ad3d424c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f81a2fb4284515" /><Relationship Type="http://schemas.openxmlformats.org/officeDocument/2006/relationships/notesMaster" Target="/ppt/notesMasters/notesMaster1.xml" Id="R9f48dc9089b14a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team-supplied technical development plan. Team names were not provided. This deck reflects application-stage work. The team must supply genuine model and evaluation evidence before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MedInspect_AI_Technical_Development_Plan.docx supplied by the team. Application evidence: app.py, src/, tests/, docs/person_two_status.md in this repository. Status: application stage, real model integration and public demo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MedInspect_AI_Technical_Development_Plan.docx supplied by the team. Application evidence: app.py, src/, tests/, docs/person_two_status.md in this repository. Status: application stage, real model integration and public demo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dataset: https://huggingface.co/datasets/purdueviperlab/Surgical_Instruments_Unsupervised_Defect_Detection</a:t>
            </a:r>
          </a:p>
          <a:p xmlns:a="http://schemas.openxmlformats.org/drawingml/2006/main">
            <a:r>
              <a:t>PatchCore reference: https://anomalib.readthedocs.io/en/latest/markdown/guides/reference/models/image/patchcore.html</a:t>
            </a:r>
          </a:p>
          <a:p xmlns:a="http://schemas.openxmlformats.org/drawingml/2006/main">
            <a:r>
              <a:t>No dataset downloads, class selection, model training, or measured performance are claimed by Person Two.</a:t>
            </a:r>
          </a:p>
          <a:p xmlns:a="http://schemas.openxmlformats.org/drawingml/2006/main">
            <a:r>
              <a:t>Source: MedInspect_AI_Technical_Development_Plan.docx supplied by the team. Application evidence: app.py, src/, tests/, docs/person_two_status.md in this repository. Status: application stage, real model integration and public demo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actual local app in its awaiting-model state, captured by scripts/check_browser.cjs. The screenshot does not demonstrate a trained model or anomaly prediction.</a:t>
            </a:r>
          </a:p>
          <a:p xmlns:a="http://schemas.openxmlformats.org/drawingml/2006/main">
            <a:r>
              <a:t>Source: MedInspect_AI_Technical_Development_Plan.docx supplied by the team. Application evidence: app.py, src/, tests/, docs/person_two_status.md in this repository. Status: application stage, real model integration and public demo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MedInspect_AI_Technical_Development_Plan.docx supplied by the team. Application evidence: app.py, src/, tests/, docs/person_two_status.md in this repository. Status: application stage, real model integration and public demo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MedInspect_AI_Technical_Development_Plan.docx supplied by the team. Application evidence: app.py, src/, tests/, docs/person_two_status.md in this repository. Status: application stage, real model integration and public demo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74f38d5389435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9dc850530d411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e0ec43dc2f423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f87bbd2eb2497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a9ac1585b1457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e34d59299b47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7F9420-8939-44CB-A5F5-B3DFAD13C9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05F61AD-BD54-45D9-8F7B-711170E9B8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248F207-2F33-4DD3-8B4E-E9014C84A0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80A0DB-32EB-48E2-AEB8-7217985D60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6C7F53F-E2BE-4DB2-AB6B-50B7B1EEBE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00187D6-4BF8-4DF5-9F13-E4CEE53D5C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C3CF65-08E1-4103-9DA7-1511A77082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0ECD957-DCA4-41F3-AD61-B196CEDE81E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98FDC7-7CED-41EE-8D8F-3515646C1B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CB11C9A-7CA8-4EBE-AC87-8148F19A29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00bf3072674f3a" /><Relationship Type="http://schemas.openxmlformats.org/officeDocument/2006/relationships/slideLayout" Target="/ppt/slideLayouts/slideLayout1.xml" Id="Rb662f622781d483e" /><Relationship Type="http://schemas.openxmlformats.org/officeDocument/2006/relationships/slideLayout" Target="/ppt/slideLayouts/slideLayout2.xml" Id="R385c4cdeba1c4c9a" /><Relationship Type="http://schemas.openxmlformats.org/officeDocument/2006/relationships/slideLayout" Target="/ppt/slideLayouts/slideLayout3.xml" Id="R2e5473925fe9486c" /><Relationship Type="http://schemas.openxmlformats.org/officeDocument/2006/relationships/slideLayout" Target="/ppt/slideLayouts/slideLayout4.xml" Id="Rd3b0979e10b048e1" /><Relationship Type="http://schemas.openxmlformats.org/officeDocument/2006/relationships/slideLayout" Target="/ppt/slideLayouts/slideLayout5.xml" Id="Rc063ee650b00462a" /><Relationship Type="http://schemas.openxmlformats.org/officeDocument/2006/relationships/slideLayout" Target="/ppt/slideLayouts/slideLayout6.xml" Id="Rb5d2eedd10ef4b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62f622781d483e"/>
    <p:sldLayoutId xmlns:r="http://schemas.openxmlformats.org/officeDocument/2006/relationships" id="2147483650" r:id="R385c4cdeba1c4c9a"/>
    <p:sldLayoutId xmlns:r="http://schemas.openxmlformats.org/officeDocument/2006/relationships" id="2147483651" r:id="R2e5473925fe9486c"/>
    <p:sldLayoutId xmlns:r="http://schemas.openxmlformats.org/officeDocument/2006/relationships" id="2147483652" r:id="Rd3b0979e10b048e1"/>
    <p:sldLayoutId xmlns:r="http://schemas.openxmlformats.org/officeDocument/2006/relationships" id="2147483653" r:id="Rc063ee650b00462a"/>
    <p:sldLayoutId xmlns:r="http://schemas.openxmlformats.org/officeDocument/2006/relationships" id="2147483654" r:id="Rb5d2eedd10ef4b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1824d096034864" /><Relationship Type="http://schemas.openxmlformats.org/officeDocument/2006/relationships/notesSlide" Target="/ppt/notesSlides/notesSlide1.xml" Id="R56fb0fb9c54048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737fbb52d34946" /><Relationship Type="http://schemas.openxmlformats.org/officeDocument/2006/relationships/notesSlide" Target="/ppt/notesSlides/notesSlide2.xml" Id="Ra7677304659643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237073c5574a84" /><Relationship Type="http://schemas.openxmlformats.org/officeDocument/2006/relationships/notesSlide" Target="/ppt/notesSlides/notesSlide3.xml" Id="Rddebfefe41c24a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dd74eabcf546b8" /><Relationship Type="http://schemas.openxmlformats.org/officeDocument/2006/relationships/notesSlide" Target="/ppt/notesSlides/notesSlide4.xml" Id="Rd914404016964c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b2710164314c91" /><Relationship Type="http://schemas.openxmlformats.org/officeDocument/2006/relationships/image" Target="/ppt/media/image.png" Id="R48bf6bc23bef4e00" /><Relationship Type="http://schemas.openxmlformats.org/officeDocument/2006/relationships/notesSlide" Target="/ppt/notesSlides/notesSlide5.xml" Id="R7f96763d41ab43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513ea7c0fa422c" /><Relationship Type="http://schemas.openxmlformats.org/officeDocument/2006/relationships/notesSlide" Target="/ppt/notesSlides/notesSlide6.xml" Id="Rd860b701ffc84d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54c953a3c04093" /><Relationship Type="http://schemas.openxmlformats.org/officeDocument/2006/relationships/notesSlide" Target="/ppt/notesSlides/notesSlide7.xml" Id="R96b1231e523b45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30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983DF-5DC5-449B-9C0E-1C6F485A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MedInspect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45312-CAE6-4578-BEAB-3498C9DC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0">
                <a:solidFill>
                  <a:srgbClr val="DCECF0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DCECF0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DCECF0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DCECF0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DCECF0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DCECF0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DCECF0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DCECF0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DCECF0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DCEC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DCECF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DCECF0"/>
                </a:solidFill>
                <a:latin typeface="Arial"/>
                <a:ea typeface="Arial"/>
                <a:cs typeface="Arial"/>
              </a:rPr>
              <a:t>AI-assisted surgical instrument inspection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290EAC-30AB-4D55-A2C9-4C51785F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83D4D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83D4D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83D4D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83D4D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83D4D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83D4D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83D4D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83D4D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83D4D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83D4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83D4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3D4D9"/>
                </a:solidFill>
                <a:latin typeface="Arial"/>
                <a:ea typeface="Arial"/>
                <a:cs typeface="Arial"/>
              </a:rPr>
              <a:t>DevFest Samsun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93E2B-CE6A-4C63-89E8-FAE2D49A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Person One: AI and dataset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Person Two: application and deployment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E489F-6035-4841-BE95-79BA9D15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B6D1D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6D1D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6D1D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6D1D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6D1D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6D1D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6D1D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6D1D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6D1D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6D1D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6D1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6D1DD"/>
                </a:solidFill>
                <a:latin typeface="Arial"/>
                <a:ea typeface="Arial"/>
                <a:cs typeface="Arial"/>
              </a:rPr>
              <a:t>Research prototype with human review</a:t>
            </a:r>
          </a:p>
        </p:txBody>
      </p:sp>
    </p:spTree>
    <p:extLst>
      <p:ext uri="{BB962C8B-B14F-4D97-AF65-F5344CB8AC3E}">
        <p14:creationId xmlns:p14="http://schemas.microsoft.com/office/powerpoint/2010/main" val="2007164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6DDE67-3DAF-48F8-B656-F9548A9A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B3039"/>
                </a:solidFill>
                <a:latin typeface="Arial"/>
                <a:ea typeface="Arial"/>
                <a:cs typeface="Arial"/>
              </a:rPr>
              <a:t>Visible instrument inspection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FE98D6-2F6A-44C7-B0F9-5F957A34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381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A reviewable record</a:t>
            </a:r>
          </a:p>
          <a:p xmlns:a="http://schemas.openxmlformats.org/drawingml/2006/main">
            <a:pPr>
              <a:defRPr sz="33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for each image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61F57-3F2D-47AD-BF81-667F9576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B3039"/>
                </a:solidFill>
                <a:latin typeface="Arial"/>
                <a:ea typeface="Arial"/>
                <a:cs typeface="Arial"/>
              </a:rPr>
              <a:t>Inspection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F869D1-B659-4965-83F5-FA840529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09800"/>
            <a:ext cx="5429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B3039"/>
                </a:solidFill>
                <a:latin typeface="Arial"/>
                <a:ea typeface="Arial"/>
                <a:cs typeface="Arial"/>
              </a:rPr>
              <a:t>The operator identifies the batch, instrument, and supported class before screening.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DA295-3048-4222-90A5-67484AE1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862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B3039"/>
                </a:solidFill>
                <a:latin typeface="Arial"/>
                <a:ea typeface="Arial"/>
                <a:cs typeface="Arial"/>
              </a:rPr>
              <a:t>Human assessment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4A7F74-98C7-454F-BADA-E3213814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7675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B3039"/>
                </a:solidFill>
                <a:latin typeface="Arial"/>
                <a:ea typeface="Arial"/>
                <a:cs typeface="Arial"/>
              </a:rPr>
              <a:t>The operator reviews suspicious regions and records a decision with the model evidence.</a:t>
            </a:r>
          </a:p>
        </p:txBody>
      </p:sp>
    </p:spTree>
    <p:extLst>
      <p:ext uri="{BB962C8B-B14F-4D97-AF65-F5344CB8AC3E}">
        <p14:creationId xmlns:p14="http://schemas.microsoft.com/office/powerpoint/2010/main" val="9616529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431A30-289B-4B2D-A7C6-A9C0E469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B3039"/>
                </a:solidFill>
                <a:latin typeface="Arial"/>
                <a:ea typeface="Arial"/>
                <a:cs typeface="Arial"/>
              </a:rPr>
              <a:t>Application and model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14A44F-CB2B-414F-A7E1-A8111B0B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Person Two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52FC7-CF16-49AF-9781-2CA3AABB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4857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39"/>
                </a:solidFill>
                <a:latin typeface="Arial"/>
                <a:ea typeface="Arial"/>
                <a:cs typeface="Arial"/>
              </a:rPr>
              <a:t>Upload and metadata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39"/>
                </a:solidFill>
                <a:latin typeface="Arial"/>
                <a:ea typeface="Arial"/>
                <a:cs typeface="Arial"/>
              </a:rPr>
              <a:t>Artifact verification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39"/>
                </a:solidFill>
                <a:latin typeface="Arial"/>
                <a:ea typeface="Arial"/>
                <a:cs typeface="Arial"/>
              </a:rPr>
              <a:t>Heatmap and operator review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39"/>
                </a:solidFill>
                <a:latin typeface="Arial"/>
                <a:ea typeface="Arial"/>
                <a:cs typeface="Arial"/>
              </a:rPr>
              <a:t>Session CSV export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499886-9931-4CA8-90E8-078420F4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811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Person 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087C97-6706-491C-BC8F-BAFE649F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28850"/>
            <a:ext cx="4857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39"/>
                </a:solidFill>
                <a:latin typeface="Arial"/>
                <a:ea typeface="Arial"/>
                <a:cs typeface="Arial"/>
              </a:rPr>
              <a:t>Saved PatchCore memory bank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39"/>
                </a:solidFill>
                <a:latin typeface="Arial"/>
                <a:ea typeface="Arial"/>
                <a:cs typeface="Arial"/>
              </a:rPr>
              <a:t>Cached loading and transforms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39"/>
                </a:solidFill>
                <a:latin typeface="Arial"/>
                <a:ea typeface="Arial"/>
                <a:cs typeface="Arial"/>
              </a:rPr>
              <a:t>Real score and aligned map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39"/>
                </a:solidFill>
                <a:latin typeface="Arial"/>
                <a:ea typeface="Arial"/>
                <a:cs typeface="Arial"/>
              </a:rPr>
              <a:t>Validation threshold and evaluation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BC74C-AA18-4AC1-898B-554F0697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873"/>
                </a:solidFill>
                <a:latin typeface="Arial"/>
                <a:ea typeface="Arial"/>
                <a:cs typeface="Arial"/>
              </a:rPr>
              <a:t>Shared API: inspect_image(PIL RGB image)</a:t>
            </a:r>
          </a:p>
        </p:txBody>
      </p:sp>
    </p:spTree>
    <p:extLst>
      <p:ext uri="{BB962C8B-B14F-4D97-AF65-F5344CB8AC3E}">
        <p14:creationId xmlns:p14="http://schemas.microsoft.com/office/powerpoint/2010/main" val="5743416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91584-7E60-4BAE-86F5-7220E1A6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B3039"/>
                </a:solidFill>
                <a:latin typeface="Arial"/>
                <a:ea typeface="Arial"/>
                <a:cs typeface="Arial"/>
              </a:rPr>
              <a:t>Dataset and PatchCore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594552-F67C-4EA3-BA4F-9D46EC92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Planned approach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ACD0E-FC58-44B8-8D64-D53D3690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39"/>
                </a:solidFill>
                <a:latin typeface="Arial"/>
                <a:ea typeface="Arial"/>
                <a:cs typeface="Arial"/>
              </a:rPr>
              <a:t>Purdue surgical instrument dataset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39"/>
                </a:solidFill>
                <a:latin typeface="Arial"/>
                <a:ea typeface="Arial"/>
                <a:cs typeface="Arial"/>
              </a:rPr>
              <a:t>One supported class for the prototype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39"/>
                </a:solidFill>
                <a:latin typeface="Arial"/>
                <a:ea typeface="Arial"/>
                <a:cs typeface="Arial"/>
              </a:rPr>
              <a:t>PatchCore normal feature memory bank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39571E-573B-4E80-9B98-422E11C4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383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Person One's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6AFD9A-3B65-4FFC-BC3C-2BDC2FDF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431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39"/>
                </a:solidFill>
                <a:latin typeface="Arial"/>
                <a:ea typeface="Arial"/>
                <a:cs typeface="Arial"/>
              </a:rPr>
              <a:t>Selected class and split counts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39"/>
                </a:solidFill>
                <a:latin typeface="Arial"/>
                <a:ea typeface="Arial"/>
                <a:cs typeface="Arial"/>
              </a:rPr>
              <a:t>Usage restrictions and simulated defects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39"/>
                </a:solidFill>
                <a:latin typeface="Arial"/>
                <a:ea typeface="Arial"/>
                <a:cs typeface="Arial"/>
              </a:rPr>
              <a:t>Saved artifact and calibrated threshold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934867-F5B5-45FA-9F95-726DA9B1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873"/>
                </a:solidFill>
                <a:latin typeface="Arial"/>
                <a:ea typeface="Arial"/>
                <a:cs typeface="Arial"/>
              </a:rPr>
              <a:t>Dataset preparation and real model integration remain pending in this branch</a:t>
            </a:r>
          </a:p>
        </p:txBody>
      </p:sp>
    </p:spTree>
    <p:extLst>
      <p:ext uri="{BB962C8B-B14F-4D97-AF65-F5344CB8AC3E}">
        <p14:creationId xmlns:p14="http://schemas.microsoft.com/office/powerpoint/2010/main" val="16440038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42D18-6ABE-4579-B97C-5646877C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B3039"/>
                </a:solidFill>
                <a:latin typeface="Arial"/>
                <a:ea typeface="Arial"/>
                <a:cs typeface="Arial"/>
              </a:rPr>
              <a:t>Inspection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6A9C4E-6062-4598-A8E4-46098874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191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B3039"/>
                </a:solidFill>
                <a:latin typeface="Arial"/>
                <a:ea typeface="Arial"/>
                <a:cs typeface="Arial"/>
              </a:rPr>
              <a:t>1   Identify the instrument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B3039"/>
                </a:solidFill>
                <a:latin typeface="Arial"/>
                <a:ea typeface="Arial"/>
                <a:cs typeface="Arial"/>
              </a:rPr>
              <a:t>2   Upload and analyze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B3039"/>
                </a:solidFill>
                <a:latin typeface="Arial"/>
                <a:ea typeface="Arial"/>
                <a:cs typeface="Arial"/>
              </a:rPr>
              <a:t>3   Review the score and map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B3039"/>
                </a:solidFill>
                <a:latin typeface="Arial"/>
                <a:ea typeface="Arial"/>
                <a:cs typeface="Arial"/>
              </a:rPr>
              <a:t>4   Record a human decision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B3039"/>
                </a:solidFill>
                <a:latin typeface="Arial"/>
                <a:ea typeface="Arial"/>
                <a:cs typeface="Arial"/>
              </a:rPr>
              <a:t>5   Export the session CSV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D29D3C-ACF7-44E6-A3EB-8682D23CF2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bf6bc23bef4e00"/>
          <a:stretch xmlns:a="http://schemas.openxmlformats.org/drawingml/2006/main"/>
        </p:blipFill>
        <p:spPr>
          <a:xfrm xmlns:a="http://schemas.openxmlformats.org/drawingml/2006/main">
            <a:off x="5279027" y="1466850"/>
            <a:ext cx="6244046" cy="45529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8702B-6558-4181-A3B7-C2C8EE6F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191250"/>
            <a:ext cx="624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73"/>
                </a:solidFill>
                <a:latin typeface="Arial"/>
                <a:ea typeface="Arial"/>
                <a:cs typeface="Arial"/>
              </a:rPr>
              <a:t>Actual app UI while model integration is pending</a:t>
            </a:r>
          </a:p>
        </p:txBody>
      </p:sp>
    </p:spTree>
    <p:extLst>
      <p:ext uri="{BB962C8B-B14F-4D97-AF65-F5344CB8AC3E}">
        <p14:creationId xmlns:p14="http://schemas.microsoft.com/office/powerpoint/2010/main" val="17025915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940D63-2FFC-4058-A7B6-3131BF15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B3039"/>
                </a:solidFill>
                <a:latin typeface="Arial"/>
                <a:ea typeface="Arial"/>
                <a:cs typeface="Arial"/>
              </a:rPr>
              <a:t>Evaluation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C98C5-7EE9-4EAB-BF51-E7EC3806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defPPr>
            <a:lvl1pPr>
              <a:defRPr sz="36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1pPr>
            <a:lvl2pPr>
              <a:defRPr sz="36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2pPr>
            <a:lvl3pPr>
              <a:defRPr sz="36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3pPr>
            <a:lvl4pPr>
              <a:defRPr sz="36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4pPr>
            <a:lvl5pPr>
              <a:defRPr sz="36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5pPr>
            <a:lvl6pPr>
              <a:defRPr sz="36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6pPr>
            <a:lvl7pPr>
              <a:defRPr sz="36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7pPr>
            <a:lvl8pPr>
              <a:defRPr sz="36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8pPr>
            <a:lvl9pPr>
              <a:defRPr sz="36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Model results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67CE2-856B-4823-97F4-78D3DF9E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B3039"/>
                </a:solidFill>
                <a:latin typeface="Arial"/>
                <a:ea typeface="Arial"/>
                <a:cs typeface="Arial"/>
              </a:rPr>
              <a:t>Application checks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3FA29-EB58-4C5D-8512-439DB8C2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4953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39"/>
                </a:solidFill>
                <a:latin typeface="Arial"/>
                <a:ea typeface="Arial"/>
                <a:cs typeface="Arial"/>
              </a:rPr>
              <a:t>Workflow tests cover uploads, API validation, overlays, review, and CSV. Launch, readiness, and source packaging tools are 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6347E-DF13-4549-ABE6-C6493549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099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B3039"/>
                </a:solidFill>
                <a:latin typeface="Arial"/>
                <a:ea typeface="Arial"/>
                <a:cs typeface="Arial"/>
              </a:rPr>
              <a:t>Required from held-out images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5AB6F9-01FB-48E1-ACB0-555017BA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57600"/>
            <a:ext cx="4953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39"/>
                </a:solidFill>
                <a:latin typeface="Arial"/>
                <a:ea typeface="Arial"/>
                <a:cs typeface="Arial"/>
              </a:rPr>
              <a:t>TP / FP / TN / FN, recall, precision, F1, false-positive rate, AUROC, localization, and measured latency.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433977-FE6B-439C-BE2D-E2D421A3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873"/>
                </a:solidFill>
                <a:latin typeface="Arial"/>
                <a:ea typeface="Arial"/>
                <a:cs typeface="Arial"/>
              </a:rPr>
              <a:t>UI fixtures establish application behavior. Real inference and accuracy await Person One's model.</a:t>
            </a:r>
          </a:p>
        </p:txBody>
      </p:sp>
    </p:spTree>
    <p:extLst>
      <p:ext uri="{BB962C8B-B14F-4D97-AF65-F5344CB8AC3E}">
        <p14:creationId xmlns:p14="http://schemas.microsoft.com/office/powerpoint/2010/main" val="7582966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7565D7-C2EF-4800-BDBC-B9213185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B30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B3039"/>
                </a:solidFill>
                <a:latin typeface="Arial"/>
                <a:ea typeface="Arial"/>
                <a:cs typeface="Arial"/>
              </a:rPr>
              <a:t>Release gates and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85D55-1CD2-4036-AB06-C2FAC0C5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Before a public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AAD2B3-7731-4B69-8FF0-31F77920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9530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B3039"/>
                </a:solidFill>
                <a:latin typeface="Arial"/>
                <a:ea typeface="Arial"/>
                <a:cs typeface="Arial"/>
              </a:rPr>
              <a:t>Integrate the real model and dependencies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B3039"/>
                </a:solidFill>
                <a:latin typeface="Arial"/>
                <a:ea typeface="Arial"/>
                <a:cs typeface="Arial"/>
              </a:rPr>
              <a:t>Verify unseen-image inference and reload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B3039"/>
                </a:solidFill>
                <a:latin typeface="Arial"/>
                <a:ea typeface="Arial"/>
                <a:cs typeface="Arial"/>
              </a:rPr>
              <a:t>Deploy and check the complete review flow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B3039"/>
                </a:solidFill>
                <a:latin typeface="Arial"/>
                <a:ea typeface="Arial"/>
                <a:cs typeface="Arial"/>
              </a:rPr>
              <a:t>Record the actual app and export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A7125D-6813-4207-BA4E-59366419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38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Limits to communicate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04D8A-0EBB-45F0-B79F-05790715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49530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B3039"/>
                </a:solidFill>
                <a:latin typeface="Arial"/>
                <a:ea typeface="Arial"/>
                <a:cs typeface="Arial"/>
              </a:rPr>
              <a:t>Lighting and background can affect results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B3039"/>
                </a:solidFill>
                <a:latin typeface="Arial"/>
                <a:ea typeface="Arial"/>
                <a:cs typeface="Arial"/>
              </a:rPr>
              <a:t>Only the supported class can be screened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B3039"/>
                </a:solidFill>
                <a:latin typeface="Arial"/>
                <a:ea typeface="Arial"/>
                <a:cs typeface="Arial"/>
              </a:rPr>
              <a:t>History lasts for the current session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B303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B3039"/>
                </a:solidFill>
                <a:latin typeface="Arial"/>
                <a:ea typeface="Arial"/>
                <a:cs typeface="Arial"/>
              </a:rPr>
              <a:t>No safety or sterility certification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4D927-A935-42EC-A78C-B074592A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245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8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873"/>
                </a:solidFill>
                <a:latin typeface="Arial"/>
                <a:ea typeface="Arial"/>
                <a:cs typeface="Arial"/>
              </a:rPr>
              <a:t>The current branch has no verified public inference link</a:t>
            </a:r>
          </a:p>
        </p:txBody>
      </p:sp>
    </p:spTree>
    <p:extLst>
      <p:ext uri="{BB962C8B-B14F-4D97-AF65-F5344CB8AC3E}">
        <p14:creationId xmlns:p14="http://schemas.microsoft.com/office/powerpoint/2010/main" val="1588355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2026-10-24T14:47:39.3920000Z</dcterms:created>
  <dcterms:modified xsi:type="dcterms:W3CDTF">2026-10-24T14:47:39.3930000Z</dcterms:modified>
</coreProperties>
</file>